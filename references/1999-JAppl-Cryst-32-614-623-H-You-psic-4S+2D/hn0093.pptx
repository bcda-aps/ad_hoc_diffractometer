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gif" ContentType="image/gif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abstract.xml" ContentType="application/vnd.openxmlformats-officedocument.presentationml.slide+xml"/>
  <Override PartName="/ppt/notesSlides/notesSlideabstract.xml" ContentType="application/vnd.openxmlformats-officedocument.presentationml.notesSlide+xml"/>
  <Override PartName="/ppt/slides/slidecover.xml" ContentType="application/vnd.openxmlformats-officedocument.presentationml.slide+xml"/>
  <Override PartName="/ppt/notesSlides/notesSlidecover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000" r:id="rIdCover"/>
    <p:sldId id="1001" r:id="rIdAbstract"/>
    <p:sldId id="256" r:id="rId90"/>
    <p:sldId id="257" r:id="rId9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498" y="12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0" Type="http://schemas.openxmlformats.org/officeDocument/2006/relationships/slide" Target="slides/slide1.xml"/><Relationship Id="rId91" Type="http://schemas.openxmlformats.org/officeDocument/2006/relationships/slide" Target="slides/slide2.xml"/><Relationship Id="rIdAbstract" Type="http://schemas.openxmlformats.org/officeDocument/2006/relationships/slide" Target="slides/slideabstract.xml"/><Relationship Id="rIdCover" Type="http://schemas.openxmlformats.org/officeDocument/2006/relationships/slide" Target="slides/slidecover.xml"/>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D88E22-B339-4D1F-9AA1-A55FBF89BA4D}" type="datetimeFigureOut">
              <a:rPr lang="en-GB" smtClean="0"/>
              <a:pPr/>
              <a:t>09/12/2014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34A19-1034-4F07-BCD4-05E5E1DABBFE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
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

</file>

<file path=ppt/notesSlides/_rels/notesSlideabstract.xml.rels><?xml version="1.0" encoding="UTF-8" standalone="yes"?>
<Relationships xmlns="http://schemas.openxmlformats.org/package/2006/relationships"><Relationship Id="rId2" Type="http://schemas.openxmlformats.org/officeDocument/2006/relationships/slide" Target="../slides/slideabstract.xml"/><Relationship Id="rId1" Type="http://schemas.openxmlformats.org/officeDocument/2006/relationships/notesMaster" Target="../notesMasters/notesMaster1.xml"/></Relationships>

</file>

<file path=ppt/notesSlides/_rels/notesSlidecover.xml.rels><?xml version="1.0" encoding="UTF-8" standalone="yes"?>
<Relationships xmlns="http://schemas.openxmlformats.org/package/2006/relationships"><Relationship Id="rId2" Type="http://schemas.openxmlformats.org/officeDocument/2006/relationships/slide" Target="../slides/slidecover.xml"/><Relationship Id="rId1" Type="http://schemas.openxmlformats.org/officeDocument/2006/relationships/notesMaster" Target="../notesMasters/notesMaster1.xml"/>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 schematic drawing of the `4S+2D' diffractometer. The sense of rotations, laboratory frame, and the incoming X-ray directions are shown as arrows. [You, H. (1999). J. Appl. Cryst. 32, 614-623.   10.1107/S0021889899001223]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D34A19-1034-4F07-BCD4-05E5E1DABBFE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Definitions of pseudo-angles shown with the scattering vector and Ewald sphere. [You, H. (1999). J. Appl. Cryst. 32, 614-623.   10.1107/S0021889899001223]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D34A19-1034-4F07-BCD4-05E5E1DABBFE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abstract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Angle calculations are derived for the operation of a `4S+2D' six-circle X-ray or neutron diffractometer. The six degrees of freedom [four sample-orienting (`4S') and two detector-orienting (`2D')] of the diffractometer are used to control the scattering vector and a reference vector in the laboratory frame of reference. Several modes of operation unavailable in other types of diffractometer are presented.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D34A19-1034-4F07-BCD4-05E5E1DABBFE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cover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Angle calculations are derived for the operation of a `4S+2D' six-circle X-ray or neutron diffractometer. Four sample-orienting and two detector-orienting degrees of freedom are used to control the scattering vector and a reference vector in the laboratory frame of reference.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D34A19-1034-4F07-BCD4-05E5E1DABBFE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767C-1609-4890-943F-06C1AAE54CED}" type="datetimeFigureOut">
              <a:rPr lang="en-GB" smtClean="0"/>
              <a:pPr/>
              <a:t>09/12/2014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A4F9-9CFA-4165-B04F-80B53FA76C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767C-1609-4890-943F-06C1AAE54CED}" type="datetimeFigureOut">
              <a:rPr lang="en-GB" smtClean="0"/>
              <a:pPr/>
              <a:t>09/12/2014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A4F9-9CFA-4165-B04F-80B53FA76C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767C-1609-4890-943F-06C1AAE54CED}" type="datetimeFigureOut">
              <a:rPr lang="en-GB" smtClean="0"/>
              <a:pPr/>
              <a:t>09/12/2014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A4F9-9CFA-4165-B04F-80B53FA76C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767C-1609-4890-943F-06C1AAE54CED}" type="datetimeFigureOut">
              <a:rPr lang="en-GB" smtClean="0"/>
              <a:pPr/>
              <a:t>09/12/2014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A4F9-9CFA-4165-B04F-80B53FA76C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767C-1609-4890-943F-06C1AAE54CED}" type="datetimeFigureOut">
              <a:rPr lang="en-GB" smtClean="0"/>
              <a:pPr/>
              <a:t>09/12/2014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A4F9-9CFA-4165-B04F-80B53FA76C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767C-1609-4890-943F-06C1AAE54CED}" type="datetimeFigureOut">
              <a:rPr lang="en-GB" smtClean="0"/>
              <a:pPr/>
              <a:t>09/12/2014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A4F9-9CFA-4165-B04F-80B53FA76C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767C-1609-4890-943F-06C1AAE54CED}" type="datetimeFigureOut">
              <a:rPr lang="en-GB" smtClean="0"/>
              <a:pPr/>
              <a:t>09/12/2014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A4F9-9CFA-4165-B04F-80B53FA76C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767C-1609-4890-943F-06C1AAE54CED}" type="datetimeFigureOut">
              <a:rPr lang="en-GB" smtClean="0"/>
              <a:pPr/>
              <a:t>09/12/2014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A4F9-9CFA-4165-B04F-80B53FA76C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767C-1609-4890-943F-06C1AAE54CED}" type="datetimeFigureOut">
              <a:rPr lang="en-GB" smtClean="0"/>
              <a:pPr/>
              <a:t>09/12/2014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A4F9-9CFA-4165-B04F-80B53FA76C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767C-1609-4890-943F-06C1AAE54CED}" type="datetimeFigureOut">
              <a:rPr lang="en-GB" smtClean="0"/>
              <a:pPr/>
              <a:t>09/12/2014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A4F9-9CFA-4165-B04F-80B53FA76C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F767C-1609-4890-943F-06C1AAE54CED}" type="datetimeFigureOut">
              <a:rPr lang="en-GB" smtClean="0"/>
              <a:pPr/>
              <a:t>09/12/2014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A4F9-9CFA-4165-B04F-80B53FA76C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F767C-1609-4890-943F-06C1AAE54CED}" type="datetimeFigureOut">
              <a:rPr lang="en-GB" smtClean="0"/>
              <a:pPr/>
              <a:t>09/12/2014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4A4F9-9CFA-4165-B04F-80B53FA76C5E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

</file>

<file path=ppt/slides/_rels/slideabstract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abstract.xml"/><Relationship Id="rId1" Type="http://schemas.openxmlformats.org/officeDocument/2006/relationships/slideLayout" Target="../slideLayouts/slideLayout1.xml"/></Relationships>

</file>

<file path=ppt/slides/_rels/slidecover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cover.xml"/><Relationship Id="rId1" Type="http://schemas.openxmlformats.org/officeDocument/2006/relationships/slideLayout" Target="../slideLayouts/slideLayout1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1"/>
          <p:cNvSpPr>
            <a:spLocks noGrp="1"/>
          </p:cNvSpPr>
          <p:nvPr>
            <p:ph type="ctrTitle"/>
          </p:nvPr>
        </p:nvSpPr>
        <p:spPr>
          <a:xfrm>
            <a:off x="683568" y="332656"/>
            <a:ext cx="7772400" cy="576064"/>
          </a:xfrm>
        </p:spPr>
        <p:txBody>
          <a:bodyPr>
            <a:normAutofit/>
          </a:bodyPr>
          <a:lstStyle/>
          <a:p>
            <a:r>
              <a:rPr lang="en-GB" sz="1400" dirty="0" smtClean="0"/>
              <a:t/>
            </a:r>
            <a:r>
              <a:rPr lang="en-GB" b="0" sz="1400" dirty="0" smtClean="0">
                <a:solidFill>
                  <a:srgbClr val="595959"/>
                </a:solidFill>
              </a:rPr>
              <a:t>Figure 1. A schematic drawing of the `4S+2D' diffractometer. The sense of rotations, laboratory frame, and the incoming X-ray directions are shown as arrows.</a:t>
            </a:r>
            <a:endParaRPr lang="en-GB" sz="1400" dirty="0"/>
          </a:p>
        </p:txBody>
      </p:sp>
      <p:sp>
        <p:nvSpPr>
          <p:cNvPr id="3" name="Journal Reference 1"/>
          <p:cNvSpPr>
            <a:spLocks noGrp="1"/>
          </p:cNvSpPr>
          <p:nvPr>
            <p:ph type="subTitle" idx="1"/>
          </p:nvPr>
        </p:nvSpPr>
        <p:spPr>
          <a:xfrm>
            <a:off x="2483768" y="6093296"/>
            <a:ext cx="6264696" cy="625624"/>
          </a:xfrm>
        </p:spPr>
        <p:txBody>
          <a:bodyPr>
            <a:normAutofit/>
          </a:bodyPr>
          <a:lstStyle/>
          <a:p>
            <a:pPr algn="r"/>
            <a:r>
              <a:rPr lang="en-GB" sz="1400" dirty="0" smtClean="0"/>
              <a:t> </a:t>
            </a:r>
            <a:r>
              <a:rPr lang="en-GB" sz="1400" b="1" dirty="0" smtClean="0">
                <a:solidFill>
                  <a:srgbClr val="43260a"/>
                </a:solidFill>
              </a:rPr>
              <a:t>You</a:t>
            </a:r>
          </a:p>
          <a:p>
            <a:pPr algn="r"/>
            <a:r>
              <a:rPr lang="en-GB" sz="1200" dirty="0" smtClean="0">
                <a:solidFill>
                  <a:srgbClr val="FF0000"/>
                </a:solidFill>
              </a:rPr>
              <a:t> </a:t>
            </a:r>
            <a:r>
              <a:rPr lang="en-GB" sz="1200" dirty="0" smtClean="0">
                <a:solidFill>
                  <a:srgbClr val="FF0000"/>
                </a:solidFill>
              </a:rPr>
              <a:t/>
            </a:r>
            <a:r>
              <a:rPr lang="en-GB" sz="1200" b="1" dirty="0" smtClean="0">
                <a:solidFill>
                  <a:srgbClr val="43260a"/>
                </a:solidFill>
              </a:rPr>
              <a:t>Volume 32</a:t>
            </a:r>
            <a:r>
              <a:rPr lang="en-GB" sz="1200" dirty="0" smtClean="0">
                <a:solidFill>
                  <a:srgbClr val="595959"/>
                </a:solidFill>
              </a:rPr>
              <a:t> | </a:t>
            </a:r>
            <a:r>
              <a:rPr lang="en-GB" sz="1200" b="1" dirty="0" smtClean="0">
                <a:solidFill>
                  <a:srgbClr val="43260a"/>
                </a:solidFill>
              </a:rPr>
              <a:t>Part 4</a:t>
            </a:r>
            <a:r>
              <a:rPr lang="en-GB" sz="1200" dirty="0" smtClean="0">
                <a:solidFill>
                  <a:srgbClr val="595959"/>
                </a:solidFill>
              </a:rPr>
              <a:t> | </a:t>
            </a:r>
            <a:r>
              <a:rPr lang="en-GB" sz="1200" dirty="0" smtClean="0">
                <a:solidFill>
                  <a:srgbClr val="43260a"/>
                </a:solidFill>
              </a:rPr>
              <a:t>August 1999</a:t>
            </a:r>
            <a:r>
              <a:rPr lang="en-GB" sz="1200" dirty="0" smtClean="0">
                <a:solidFill>
                  <a:srgbClr val="595959"/>
                </a:solidFill>
              </a:rPr>
              <a:t> | </a:t>
            </a:r>
            <a:r>
              <a:rPr lang="en-GB" sz="1200" dirty="0" smtClean="0">
                <a:solidFill>
                  <a:srgbClr val="43260a"/>
                </a:solidFill>
              </a:rPr>
              <a:t>Pages 614–623</a:t>
            </a:r>
            <a:r>
              <a:rPr lang="en-GB" sz="1200" dirty="0" smtClean="0">
                <a:solidFill>
                  <a:srgbClr val="595959"/>
                </a:solidFill>
              </a:rPr>
              <a:t> | </a:t>
            </a:r>
            <a:r>
              <a:rPr lang="en-GB" sz="1200" dirty="0" smtClean="0">
                <a:solidFill>
                  <a:srgbClr val="43260a"/>
                </a:solidFill>
              </a:rPr>
              <a:t>10.1107/S0021889899001223</a:t>
            </a:r>
            <a:endParaRPr lang="en-GB" sz="1200" dirty="0">
              <a:solidFill>
                <a:srgbClr val="FF0000"/>
              </a:solidFill>
            </a:endParaRPr>
          </a:p>
        </p:txBody>
      </p:sp>
      <p:pic>
        <p:nvPicPr>
          <p:cNvPr id="4" name="Journal Logo 1" descr="IUCrlog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5536" y="6021289"/>
            <a:ext cx="1944216" cy="579920"/>
          </a:xfrm>
          <a:prstGeom prst="rect">
            <a:avLst/>
          </a:prstGeom>
        </p:spPr>
      </p:pic>
      <p:pic>
        <p:nvPicPr>
          <p:cNvPr id="5" name="Figure 1" descr="IUCrfigur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77552" y="1052736"/>
            <a:ext cx="6588895" cy="48245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2"/>
          <p:cNvSpPr>
            <a:spLocks noGrp="1"/>
          </p:cNvSpPr>
          <p:nvPr>
            <p:ph type="ctrTitle"/>
          </p:nvPr>
        </p:nvSpPr>
        <p:spPr>
          <a:xfrm>
            <a:off x="683568" y="332656"/>
            <a:ext cx="7772400" cy="576064"/>
          </a:xfrm>
        </p:spPr>
        <p:txBody>
          <a:bodyPr>
            <a:normAutofit/>
          </a:bodyPr>
          <a:lstStyle/>
          <a:p>
            <a:r>
              <a:rPr lang="en-GB" sz="1400" dirty="0" smtClean="0"/>
              <a:t/>
            </a:r>
            <a:r>
              <a:rPr lang="en-GB" b="0" sz="1400" dirty="0" smtClean="0">
                <a:solidFill>
                  <a:srgbClr val="595959"/>
                </a:solidFill>
              </a:rPr>
              <a:t>Figure 2. Definitions of pseudo-angles shown with the scattering vector and Ewald sphere.</a:t>
            </a:r>
            <a:endParaRPr lang="en-GB" sz="1400" dirty="0"/>
          </a:p>
        </p:txBody>
      </p:sp>
      <p:sp>
        <p:nvSpPr>
          <p:cNvPr id="3" name="Journal Reference 2"/>
          <p:cNvSpPr>
            <a:spLocks noGrp="1"/>
          </p:cNvSpPr>
          <p:nvPr>
            <p:ph type="subTitle" idx="1"/>
          </p:nvPr>
        </p:nvSpPr>
        <p:spPr>
          <a:xfrm>
            <a:off x="2483768" y="6093296"/>
            <a:ext cx="6264696" cy="625624"/>
          </a:xfrm>
        </p:spPr>
        <p:txBody>
          <a:bodyPr>
            <a:normAutofit/>
          </a:bodyPr>
          <a:lstStyle/>
          <a:p>
            <a:pPr algn="r"/>
            <a:r>
              <a:rPr lang="en-GB" sz="1400" dirty="0" smtClean="0"/>
              <a:t> </a:t>
            </a:r>
            <a:r>
              <a:rPr lang="en-GB" sz="1400" b="1" dirty="0" smtClean="0">
                <a:solidFill>
                  <a:srgbClr val="43260a"/>
                </a:solidFill>
              </a:rPr>
              <a:t>You</a:t>
            </a:r>
          </a:p>
          <a:p>
            <a:pPr algn="r"/>
            <a:r>
              <a:rPr lang="en-GB" sz="1200" dirty="0" smtClean="0">
                <a:solidFill>
                  <a:srgbClr val="FF0000"/>
                </a:solidFill>
              </a:rPr>
              <a:t> </a:t>
            </a:r>
            <a:r>
              <a:rPr lang="en-GB" sz="1200" dirty="0" smtClean="0">
                <a:solidFill>
                  <a:srgbClr val="FF0000"/>
                </a:solidFill>
              </a:rPr>
              <a:t/>
            </a:r>
            <a:r>
              <a:rPr lang="en-GB" sz="1200" b="1" dirty="0" smtClean="0">
                <a:solidFill>
                  <a:srgbClr val="43260a"/>
                </a:solidFill>
              </a:rPr>
              <a:t>Volume 32</a:t>
            </a:r>
            <a:r>
              <a:rPr lang="en-GB" sz="1200" dirty="0" smtClean="0">
                <a:solidFill>
                  <a:srgbClr val="595959"/>
                </a:solidFill>
              </a:rPr>
              <a:t> | </a:t>
            </a:r>
            <a:r>
              <a:rPr lang="en-GB" sz="1200" b="1" dirty="0" smtClean="0">
                <a:solidFill>
                  <a:srgbClr val="43260a"/>
                </a:solidFill>
              </a:rPr>
              <a:t>Part 4</a:t>
            </a:r>
            <a:r>
              <a:rPr lang="en-GB" sz="1200" dirty="0" smtClean="0">
                <a:solidFill>
                  <a:srgbClr val="595959"/>
                </a:solidFill>
              </a:rPr>
              <a:t> | </a:t>
            </a:r>
            <a:r>
              <a:rPr lang="en-GB" sz="1200" dirty="0" smtClean="0">
                <a:solidFill>
                  <a:srgbClr val="43260a"/>
                </a:solidFill>
              </a:rPr>
              <a:t>August 1999</a:t>
            </a:r>
            <a:r>
              <a:rPr lang="en-GB" sz="1200" dirty="0" smtClean="0">
                <a:solidFill>
                  <a:srgbClr val="595959"/>
                </a:solidFill>
              </a:rPr>
              <a:t> | </a:t>
            </a:r>
            <a:r>
              <a:rPr lang="en-GB" sz="1200" dirty="0" smtClean="0">
                <a:solidFill>
                  <a:srgbClr val="43260a"/>
                </a:solidFill>
              </a:rPr>
              <a:t>Pages 614–623</a:t>
            </a:r>
            <a:r>
              <a:rPr lang="en-GB" sz="1200" dirty="0" smtClean="0">
                <a:solidFill>
                  <a:srgbClr val="595959"/>
                </a:solidFill>
              </a:rPr>
              <a:t> | </a:t>
            </a:r>
            <a:r>
              <a:rPr lang="en-GB" sz="1200" dirty="0" smtClean="0">
                <a:solidFill>
                  <a:srgbClr val="43260a"/>
                </a:solidFill>
              </a:rPr>
              <a:t>10.1107/S0021889899001223</a:t>
            </a:r>
            <a:endParaRPr lang="en-GB" sz="1200" dirty="0">
              <a:solidFill>
                <a:srgbClr val="FF0000"/>
              </a:solidFill>
            </a:endParaRPr>
          </a:p>
        </p:txBody>
      </p:sp>
      <p:pic>
        <p:nvPicPr>
          <p:cNvPr id="4" name="Journal Logo 2" descr="IUCrlog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5536" y="6021289"/>
            <a:ext cx="1944216" cy="579920"/>
          </a:xfrm>
          <a:prstGeom prst="rect">
            <a:avLst/>
          </a:prstGeom>
        </p:spPr>
      </p:pic>
      <p:pic>
        <p:nvPicPr>
          <p:cNvPr id="5" name="Figure 2" descr="IUCrfigur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92269" y="1052736"/>
            <a:ext cx="7359461" cy="4824536"/>
          </a:xfrm>
          <a:prstGeom prst="rect">
            <a:avLst/>
          </a:prstGeom>
        </p:spPr>
      </p:pic>
    </p:spTree>
  </p:cSld>
  <p:clrMapOvr>
    <a:masterClrMapping/>
  </p:clrMapOvr>
</p:sld>
</file>

<file path=ppt/slides/slideabstract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stract"/>
          <p:cNvSpPr>
            <a:spLocks noGrp="1"/>
          </p:cNvSpPr>
          <p:nvPr>
            <p:ph type="ctrTitle"/>
          </p:nvPr>
        </p:nvSpPr>
        <p:spPr>
          <a:xfrm>
            <a:off x="683568" y="332656"/>
            <a:ext cx="7772400" cy="5310922"/>
          </a:xfrm>
        </p:spPr>
        <p:txBody>
          <a:bodyPr>
            <a:normAutofit/>
          </a:bodyPr>
          <a:lstStyle/>
          <a:p>
            <a:pPr algn="l"/>
            <a:r>
              <a:rPr lang="en-GB" sz="1400" b="1" dirty="0" smtClean="0">
                <a:solidFill>
                  <a:srgbClr val="595959"/>
                </a:solidFill>
              </a:rPr>
              <a:t/>
            </a:r>
            <a:r>
              <a:rPr lang="en-GB" b="1" sz="1600" dirty="0" smtClean="0">
                <a:solidFill>
                  <a:srgbClr val="666666"/>
                </a:solidFill>
              </a:rPr>
              <a:t>Angle calculations for a `4S+2D' six-circle diffractometer</a:t>
            </a:r>
            <a:endParaRPr lang="en-GB" sz="1400" dirty="0"/>
          </a:p>
          <a:p>
            <a:pPr algn="l"/>
            <a:r>
              <a:rPr lang="en-GB" sz="1400" dirty="0" smtClean="0">
                <a:solidFill>
                  <a:srgbClr val="595959"/>
                </a:solidFill>
              </a:rPr>
              <a:t/>
            </a:r>
            <a:endParaRPr lang="en-GB" sz="1400" dirty="0"/>
          </a:p>
          <a:p>
            <a:pPr algn="l"/>
            <a:r>
              <a:rPr lang="en-GB" sz="1400" b="1" dirty="0" smtClean="0">
                <a:solidFill>
                  <a:srgbClr val="595959"/>
                </a:solidFill>
              </a:rPr>
              <a:t/>
            </a:r>
            <a:r>
              <a:rPr lang="en-GB" b="0" sz="1400" dirty="0" smtClean="0">
                <a:solidFill>
                  <a:srgbClr val="595959"/>
                </a:solidFill>
              </a:rPr>
              <a:t>Angle calculations are derived for the operation of a `4S+2D' six-circle X-ray or neutron diffractometer. Four sample-orienting and two detector-orienting degrees of freedom are used to control the scattering vector and a reference vector in the laboratory frame of reference.</a:t>
            </a:r>
            <a:endParaRPr lang="en-GB" sz="1400" dirty="0"/>
          </a:p>
          <a:p>
            <a:pPr algn="l"/>
            <a:r>
              <a:rPr lang="en-GB" sz="1400" dirty="0" smtClean="0">
                <a:solidFill>
                  <a:srgbClr val="595959"/>
                </a:solidFill>
              </a:rPr>
              <a:t/>
            </a:r>
            <a:endParaRPr lang="en-GB" sz="1400" dirty="0"/>
          </a:p>
          <a:p>
            <a:pPr algn="l"/>
            <a:r>
              <a:rPr lang="en-GB" sz="1400" b="1" dirty="0" smtClean="0">
                <a:solidFill>
                  <a:srgbClr val="666666"/>
                </a:solidFill>
              </a:rPr>
              <a:t> </a:t>
            </a:r>
            <a:endParaRPr lang="en-GB" sz="1400" dirty="0"/>
          </a:p>
        </p:txBody>
      </p:sp>
      <p:sp>
        <p:nvSpPr>
          <p:cNvPr id="3" name="Journal Reference Abstract"/>
          <p:cNvSpPr>
            <a:spLocks noGrp="1"/>
          </p:cNvSpPr>
          <p:nvPr>
            <p:ph type="subTitle" idx="1"/>
          </p:nvPr>
        </p:nvSpPr>
        <p:spPr>
          <a:xfrm>
            <a:off x="2483768" y="6093296"/>
            <a:ext cx="6264696" cy="625624"/>
          </a:xfrm>
        </p:spPr>
        <p:txBody>
          <a:bodyPr>
            <a:normAutofit/>
          </a:bodyPr>
          <a:lstStyle/>
          <a:p>
            <a:pPr algn="r"/>
            <a:r>
              <a:rPr lang="en-GB" sz="1400" dirty="0" smtClean="0"/>
              <a:t> </a:t>
            </a:r>
            <a:r>
              <a:rPr lang="en-GB" sz="1400" b="1" dirty="0" smtClean="0">
                <a:solidFill>
                  <a:srgbClr val="43260a"/>
                </a:solidFill>
              </a:rPr>
              <a:t>You</a:t>
            </a:r>
          </a:p>
          <a:p>
            <a:pPr algn="r"/>
            <a:r>
              <a:rPr lang="en-GB" sz="1200" dirty="0" smtClean="0">
                <a:solidFill>
                  <a:srgbClr val="FF0000"/>
                </a:solidFill>
              </a:rPr>
              <a:t> </a:t>
            </a:r>
            <a:r>
              <a:rPr lang="en-GB" sz="1200" dirty="0" smtClean="0">
                <a:solidFill>
                  <a:srgbClr val="FF0000"/>
                </a:solidFill>
              </a:rPr>
              <a:t/>
            </a:r>
            <a:r>
              <a:rPr lang="en-GB" sz="1200" b="1" dirty="0" smtClean="0">
                <a:solidFill>
                  <a:srgbClr val="43260a"/>
                </a:solidFill>
              </a:rPr>
              <a:t>Volume 32</a:t>
            </a:r>
            <a:r>
              <a:rPr lang="en-GB" sz="1200" dirty="0" smtClean="0">
                <a:solidFill>
                  <a:srgbClr val="595959"/>
                </a:solidFill>
              </a:rPr>
              <a:t> | </a:t>
            </a:r>
            <a:r>
              <a:rPr lang="en-GB" sz="1200" b="1" dirty="0" smtClean="0">
                <a:solidFill>
                  <a:srgbClr val="43260a"/>
                </a:solidFill>
              </a:rPr>
              <a:t>Part 4</a:t>
            </a:r>
            <a:r>
              <a:rPr lang="en-GB" sz="1200" dirty="0" smtClean="0">
                <a:solidFill>
                  <a:srgbClr val="595959"/>
                </a:solidFill>
              </a:rPr>
              <a:t> | </a:t>
            </a:r>
            <a:r>
              <a:rPr lang="en-GB" sz="1200" dirty="0" smtClean="0">
                <a:solidFill>
                  <a:srgbClr val="43260a"/>
                </a:solidFill>
              </a:rPr>
              <a:t>August 1999</a:t>
            </a:r>
            <a:r>
              <a:rPr lang="en-GB" sz="1200" dirty="0" smtClean="0">
                <a:solidFill>
                  <a:srgbClr val="595959"/>
                </a:solidFill>
              </a:rPr>
              <a:t> | </a:t>
            </a:r>
            <a:r>
              <a:rPr lang="en-GB" sz="1200" dirty="0" smtClean="0">
                <a:solidFill>
                  <a:srgbClr val="43260a"/>
                </a:solidFill>
              </a:rPr>
              <a:t>Pages 614–623</a:t>
            </a:r>
            <a:r>
              <a:rPr lang="en-GB" sz="1200" dirty="0" smtClean="0">
                <a:solidFill>
                  <a:srgbClr val="595959"/>
                </a:solidFill>
              </a:rPr>
              <a:t> | </a:t>
            </a:r>
            <a:r>
              <a:rPr lang="en-GB" sz="1200" dirty="0" smtClean="0">
                <a:solidFill>
                  <a:srgbClr val="43260a"/>
                </a:solidFill>
              </a:rPr>
              <a:t>10.1107/S0021889899001223</a:t>
            </a:r>
            <a:endParaRPr lang="en-GB" sz="1200" dirty="0">
              <a:solidFill>
                <a:srgbClr val="FF0000"/>
              </a:solidFill>
            </a:endParaRPr>
          </a:p>
        </p:txBody>
      </p:sp>
      <p:pic>
        <p:nvPicPr>
          <p:cNvPr id="4" name="Journal Logo Abstract" descr="IUCr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6021289"/>
            <a:ext cx="1944216" cy="579920"/>
          </a:xfrm>
          <a:prstGeom prst="rect">
            <a:avLst/>
          </a:prstGeom>
        </p:spPr>
      </p:pic>
    </p:spTree>
  </p:cSld>
  <p:clrMapOvr>
    <a:masterClrMapping/>
  </p:clrMapOvr>
</p:sld>
</file>

<file path=ppt/slides/slidecover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ticle Title"/>
          <p:cNvSpPr>
            <a:spLocks noGrp="1"/>
          </p:cNvSpPr>
          <p:nvPr>
            <p:ph type="ctrTitle"/>
          </p:nvPr>
        </p:nvSpPr>
        <p:spPr>
          <a:xfrm>
            <a:off x="714348" y="2857496"/>
            <a:ext cx="7843838" cy="3571900"/>
          </a:xfrm>
        </p:spPr>
        <p:txBody>
          <a:bodyPr anchor="t">
            <a:noAutofit/>
          </a:bodyPr>
          <a:lstStyle/>
          <a:p>
            <a:pPr algn="l"/>
            <a:r>
              <a:rPr lang="en-GB" sz="2000" b="1" dirty="0" smtClean="0">
                <a:solidFill>
                  <a:srgbClr val="666666"/>
                </a:solidFill>
              </a:rPr>
              <a:t/>
            </a:r>
            <a:r>
              <a:rPr lang="en-GB" b="1" sz="2000" dirty="0" smtClean="0">
                <a:solidFill>
                  <a:srgbClr val="666666"/>
                </a:solidFill>
              </a:rPr>
              <a:t>Angle calculations for a `4S+2D' six-circle diffractometer</a:t>
            </a:r>
            <a:endParaRPr lang="en-GB" sz="2000" dirty="0"/>
          </a:p>
          <a:p>
            <a:pPr algn="l"/>
            <a:r>
              <a:rPr lang="en-GB" sz="1400" dirty="0" smtClean="0">
                <a:solidFill>
                  <a:srgbClr val="595959"/>
                </a:solidFill>
              </a:rPr>
              <a:t/>
            </a:r>
            <a:endParaRPr lang="en-GB" sz="1400" dirty="0"/>
          </a:p>
          <a:p>
            <a:pPr algn="l"/>
            <a:r>
              <a:rPr lang="en-GB" sz="1600" b="1" dirty="0" smtClean="0">
                <a:solidFill>
                  <a:srgbClr val="595959"/>
                </a:solidFill>
              </a:rPr>
              <a:t/>
            </a:r>
            <a:r>
              <a:rPr lang="en-GB" sz="1600" b="1" dirty="0" smtClean="0">
                <a:solidFill>
                  <a:srgbClr val="43260a"/>
                </a:solidFill>
              </a:rPr>
              <a:t>H. You</a:t>
            </a:r>
            <a:endParaRPr lang="en-GB" sz="1400" dirty="0"/>
          </a:p>
        </p:txBody>
      </p:sp>
      <p:sp>
        <p:nvSpPr>
          <p:cNvPr id="3" name="Journal Reference"/>
          <p:cNvSpPr>
            <a:spLocks noGrp="1"/>
          </p:cNvSpPr>
          <p:nvPr>
            <p:ph type="subTitle" idx="1"/>
          </p:nvPr>
        </p:nvSpPr>
        <p:spPr>
          <a:xfrm>
            <a:off x="714348" y="2071678"/>
            <a:ext cx="7858180" cy="625624"/>
          </a:xfrm>
        </p:spPr>
        <p:txBody>
          <a:bodyPr>
            <a:normAutofit/>
          </a:bodyPr>
          <a:lstStyle/>
          <a:p>
            <a:pPr algn="l"/>
            <a:r>
              <a:rPr lang="en-GB" sz="1600" b="1" dirty="0" smtClean="0">
                <a:solidFill>
                  <a:srgbClr val="990000"/>
                </a:solidFill>
              </a:rPr>
              <a:t/>
            </a:r>
            <a:r>
              <a:rPr lang="en-GB" sz="1600" b="1" dirty="0" smtClean="0">
                <a:solidFill>
                  <a:srgbClr val="43260a"/>
                </a:solidFill>
              </a:rPr>
              <a:t>Volume 32</a:t>
            </a:r>
            <a:r>
              <a:rPr lang="en-GB" sz="1600" dirty="0" smtClean="0">
                <a:solidFill>
                  <a:srgbClr val="595959"/>
                </a:solidFill>
              </a:rPr>
              <a:t> | </a:t>
            </a:r>
            <a:r>
              <a:rPr lang="en-GB" sz="1600" b="1" dirty="0" smtClean="0">
                <a:solidFill>
                  <a:srgbClr val="43260a"/>
                </a:solidFill>
              </a:rPr>
              <a:t>Part 4</a:t>
            </a:r>
            <a:r>
              <a:rPr lang="en-GB" sz="1600" dirty="0" smtClean="0">
                <a:solidFill>
                  <a:srgbClr val="595959"/>
                </a:solidFill>
              </a:rPr>
              <a:t> | </a:t>
            </a:r>
            <a:r>
              <a:rPr lang="en-GB" sz="1600" dirty="0" smtClean="0">
                <a:solidFill>
                  <a:srgbClr val="43260a"/>
                </a:solidFill>
              </a:rPr>
              <a:t>August 1999</a:t>
            </a:r>
            <a:r>
              <a:rPr lang="en-GB" sz="1600" dirty="0" smtClean="0">
                <a:solidFill>
                  <a:srgbClr val="595959"/>
                </a:solidFill>
              </a:rPr>
              <a:t> | </a:t>
            </a:r>
            <a:r>
              <a:rPr lang="en-GB" sz="1600" dirty="0" smtClean="0">
                <a:solidFill>
                  <a:srgbClr val="43260a"/>
                </a:solidFill>
              </a:rPr>
              <a:t>Pages 614–623</a:t>
            </a:r>
            <a:r>
              <a:rPr lang="en-GB" sz="1600" dirty="0" smtClean="0">
                <a:solidFill>
                  <a:srgbClr val="595959"/>
                </a:solidFill>
              </a:rPr>
              <a:t> | </a:t>
            </a:r>
            <a:r>
              <a:rPr lang="en-GB" sz="1600" dirty="0" smtClean="0">
                <a:solidFill>
                  <a:srgbClr val="43260a"/>
                </a:solidFill>
              </a:rPr>
              <a:t>10.1107/S0021889899001223</a:t>
            </a:r>
            <a:endParaRPr lang="en-GB" sz="1600" dirty="0">
              <a:solidFill>
                <a:srgbClr val="FF0000"/>
              </a:solidFill>
            </a:endParaRPr>
          </a:p>
        </p:txBody>
      </p:sp>
      <p:pic>
        <p:nvPicPr>
          <p:cNvPr id="4" name="Journal Logo" descr="IUCr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5786" y="714356"/>
            <a:ext cx="3832002" cy="11430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</Words>
  <Application>Microsoft Office PowerPoint</Application>
  <PresentationFormat>On-screen Show (4:3)</PresentationFormat>
  <Paragraphs>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Figure title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title</dc:title>
  <dc:creator>simon</dc:creator>
  <cp:lastModifiedBy>simon</cp:lastModifiedBy>
  <cp:revision>6</cp:revision>
  <dcterms:created xsi:type="dcterms:W3CDTF">2014-12-05T16:09:44Z</dcterms:created>
  <dcterms:modified xsi:type="dcterms:W3CDTF">2014-12-09T11:44:25Z</dcterms:modified>
</cp:coreProperties>
</file>